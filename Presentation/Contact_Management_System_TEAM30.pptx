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03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kern="0" spc="200" dirty="0">
              <a:solidFill>
                <a:srgbClr val="A8BDD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ctr">
              <a:buNone/>
            </a:pPr>
            <a:r>
              <a:rPr lang="en-US" sz="800" kern="0" spc="2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JUNIOR COMPUTER &amp; SYSTEMS ENGINEERING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79222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kern="0" spc="150" dirty="0">
              <a:solidFill>
                <a:srgbClr val="A8BDD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ctr">
              <a:buNone/>
            </a:pPr>
            <a:r>
              <a:rPr lang="en-US" sz="750" kern="0" spc="1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 OF ENGINEERING – SPECIALIZED PROGRAMS  ·  SPRING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kern="0" spc="150" dirty="0">
              <a:solidFill>
                <a:srgbClr val="A8BDD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ctr">
              <a:buNone/>
            </a:pPr>
            <a:r>
              <a:rPr lang="en-US" sz="750" kern="0" spc="1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AND SYSTEMS ENGINEERING DEPARTMENT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</a:t>
            </a:r>
            <a:r>
              <a:rPr lang="en-US" sz="3600" b="1" dirty="0">
                <a:solidFill>
                  <a:srgbClr val="4A9E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</a:t>
            </a: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30906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CSE333 – Data Structures and Algorithms  |  Group Project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3429000"/>
            <a:ext cx="1463040" cy="0"/>
          </a:xfrm>
          <a:prstGeom prst="line">
            <a:avLst/>
          </a:prstGeom>
          <a:noFill/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3584448"/>
            <a:ext cx="5120640" cy="13258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31720" y="36576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0" y="3657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ID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84832" y="3877056"/>
            <a:ext cx="201168" cy="201168"/>
          </a:xfrm>
          <a:prstGeom prst="ellipse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84832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331720" y="38770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George Ibrahim Abdo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38770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2300285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84832" y="4078224"/>
            <a:ext cx="201168" cy="201168"/>
          </a:xfrm>
          <a:prstGeom prst="ellipse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84832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331720" y="40782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Giovanni Boulis Abdo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40782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2300063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84832" y="4279392"/>
            <a:ext cx="201168" cy="201168"/>
          </a:xfrm>
          <a:prstGeom prst="ellipse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84832" y="4279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331720" y="4279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Adham Ahmed Hussein Abdelaal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0" y="42793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2100725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84832" y="4480560"/>
            <a:ext cx="201168" cy="201168"/>
          </a:xfrm>
          <a:prstGeom prst="ellipse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84832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331720" y="4480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Mohamed Elsayed Moustafa Hamouda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4480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2200095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84832" y="4681728"/>
            <a:ext cx="201168" cy="201168"/>
          </a:xfrm>
          <a:prstGeom prst="ellipse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84832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331720" y="4681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 Said Abdelhamid Khalil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46817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2300227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E4A8D5D-9977-B02B-F5B0-C0CAFA195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062" y="108105"/>
            <a:ext cx="1482951" cy="14829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N T R O D U C T I O 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347472"/>
            <a:ext cx="41148" cy="47548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chose </a:t>
            </a: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1 — Contact List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The goal is a fully featured contact management system that demonstrates meaningful use of multiple CSE333 data structures, with every design decision justified by its time complexity trade-offs.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4251960" cy="219456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130302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572768"/>
            <a:ext cx="13030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5760" y="186537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Store contacts: </a:t>
            </a: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phone, email, address, group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1854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Fast insert, lookup, and delete by name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Secondary search when only phone or email is known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82549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Recovery from accidental deletions (undo)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508760"/>
            <a:ext cx="4251960" cy="219456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82312" y="1572768"/>
            <a:ext cx="164592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82312" y="15727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Versions Delivered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00600" y="186537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</a:t>
            </a: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 version</a:t>
            </a: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menu-driven terminal interface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232257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</a:t>
            </a: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 version (Bonus)</a:t>
            </a: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Qt6 desktop app with sidebar, tables, live filter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277977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</a:t>
            </a: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share the </a:t>
            </a: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backend headers — zero duplication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822192"/>
            <a:ext cx="8686800" cy="658368"/>
          </a:xfrm>
          <a:prstGeom prst="rect">
            <a:avLst/>
          </a:prstGeom>
          <a:solidFill>
            <a:srgbClr val="0A1E30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91363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principle: every data structure was chosen </a:t>
            </a: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because it is the right tool for a specific operation</a:t>
            </a: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not just to satisfy a requirement.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E S I G 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347472"/>
            <a:ext cx="41148" cy="47548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737360" cy="5029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main_console.cpp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 UI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1005840"/>
            <a:ext cx="1737360" cy="5029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1005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MainWindow.cpp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Qt6 GUI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57400" y="1508760"/>
            <a:ext cx="0" cy="274320"/>
          </a:xfrm>
          <a:prstGeom prst="line">
            <a:avLst/>
          </a:prstGeom>
          <a:noFill/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20240" y="17373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ECC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38528"/>
            <a:ext cx="2651760" cy="548640"/>
          </a:xfrm>
          <a:prstGeom prst="rect">
            <a:avLst/>
          </a:prstGeom>
          <a:solidFill>
            <a:srgbClr val="2E6A9E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19385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ContactManager.h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Facade / Coordinator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57400" y="2487168"/>
            <a:ext cx="0" cy="256032"/>
          </a:xfrm>
          <a:prstGeom prst="line">
            <a:avLst/>
          </a:prstGeom>
          <a:noFill/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20240" y="2697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ECC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1143000" cy="4572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90779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HashTable.h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508760" y="2907792"/>
            <a:ext cx="1143000" cy="4572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08760" y="290779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UndoStack.h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0" y="2907792"/>
            <a:ext cx="1143000" cy="4572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0" y="290779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BinarySearch.h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057400" y="3364992"/>
            <a:ext cx="0" cy="256032"/>
          </a:xfrm>
          <a:prstGeom prst="line">
            <a:avLst/>
          </a:prstGeom>
          <a:noFill/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20240" y="35661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ECC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3200400" cy="4572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7673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  —  shared data structure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914400"/>
            <a:ext cx="4251960" cy="111556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36592" y="10241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36592" y="12801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 struct: name, phone, email, address, group. Name is the primary key. Provides operator&lt; for sorting and operator== for lookup.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2148840"/>
            <a:ext cx="4251960" cy="111556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36592" y="22585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ContactManager.h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6592" y="2514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Facade that owns one instance of each data structure. All UI layers call only ContactManager — no UI code touches raw data structures directly.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3383280"/>
            <a:ext cx="4251960" cy="111556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36592" y="34930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Separation of Concerns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36592" y="3749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header per data structure. Adding a feature only requires touching ContactManager and the relevant header.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A T A  S T R U C T U R E  1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347472"/>
            <a:ext cx="41148" cy="47548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Table — Primary Storage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042416"/>
            <a:ext cx="4073652" cy="93268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130302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51560"/>
            <a:ext cx="13030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 Hash Table?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3075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Name is the natural primary key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5361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Direct O(1) access vs. O(n) list scan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7647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Insert, lookup, delete all average O(1)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112264"/>
            <a:ext cx="4114800" cy="94183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2121408"/>
            <a:ext cx="109728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Choices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23774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101 buckets (prime) reduces clustering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Separate chaining via std::list&lt;Contact&gt;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djb2 hash — fast, low collision for short strings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163824"/>
            <a:ext cx="4114800" cy="116128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3182112"/>
            <a:ext cx="96012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31821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Complexities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" y="35021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08760" y="3502152"/>
            <a:ext cx="1005840" cy="201168"/>
          </a:xfrm>
          <a:prstGeom prst="rect">
            <a:avLst/>
          </a:prstGeom>
          <a:solidFill>
            <a:srgbClr val="1A3A1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08760" y="35021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avg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08760" y="3703320"/>
            <a:ext cx="1005840" cy="201168"/>
          </a:xfrm>
          <a:prstGeom prst="rect">
            <a:avLst/>
          </a:prstGeom>
          <a:solidFill>
            <a:srgbClr val="1A3A1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08760" y="3703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avg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39044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508760" y="3904488"/>
            <a:ext cx="1005840" cy="201168"/>
          </a:xfrm>
          <a:prstGeom prst="rect">
            <a:avLst/>
          </a:prstGeom>
          <a:solidFill>
            <a:srgbClr val="1A3A1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508760" y="3904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avg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41056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08760" y="4105656"/>
            <a:ext cx="1005840" cy="201168"/>
          </a:xfrm>
          <a:prstGeom prst="rect">
            <a:avLst/>
          </a:prstGeom>
          <a:solidFill>
            <a:srgbClr val="1A3A1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508760" y="4105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avg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960120"/>
            <a:ext cx="425196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81728" y="107899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djb2 hash — h * 33 + char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hash(const string&amp; key) const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long h = 5381;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(char ch : key)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 = ((h &lt;&lt; 5) + h) + (unsigned char)ch;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(int)(h % tableSize);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Separate chaining via std::list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vector&lt;list&lt;Contact&gt;&gt; buckets;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remove() returns the deleted contact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 it can be pushed onto the undo stack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remove(const string&amp; name)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idx = hash(name);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(auto it = buckets[idx].begin();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it != buckets[idx].end(); ++it)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(it-&gt;name == name)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Contact removed = *it;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buckets[idx].erase(it);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removed;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out_of_range("not found");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A T A  S T R U C T U R E  2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347472"/>
            <a:ext cx="41148" cy="47548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— Undo Last Delete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14800" cy="105156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96012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515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 Stack?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3075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Delete is the only destructive operation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5453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LIFO maps exactly to 'undo most recent deletion'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Both push and pop are O(1)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75104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Wraps std::stack&lt;Contact&gt; — no custom node needed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459736"/>
            <a:ext cx="4114800" cy="783434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2212848"/>
            <a:ext cx="96012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2677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Delete: HashTable.remove() → push onto stack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7066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Undo: pop from stack → HashTable.insert()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94436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Multiple undos restore in reverse deletion order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3538728"/>
            <a:ext cx="4114800" cy="89316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47472" y="3337560"/>
            <a:ext cx="82296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Complexity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65760" y="3566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(on delete)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40280" y="3566160"/>
            <a:ext cx="1005840" cy="201168"/>
          </a:xfrm>
          <a:prstGeom prst="rect">
            <a:avLst/>
          </a:prstGeom>
          <a:solidFill>
            <a:srgbClr val="1A3A1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40280" y="3566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3785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(on undo)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40280" y="3785616"/>
            <a:ext cx="1005840" cy="201168"/>
          </a:xfrm>
          <a:prstGeom prst="rect">
            <a:avLst/>
          </a:prstGeom>
          <a:solidFill>
            <a:srgbClr val="1A3A1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40280" y="37856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0" y="960120"/>
            <a:ext cx="425196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81728" y="107899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UndoStack.h — wrapper over std::stack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UndoStack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Record a deleted contact O(1)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push(const Contact&amp; c)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deletedContacts.push(c);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Retrieve most-recently deleted O(1)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pop(Contact&amp; out)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(deletedContacts.empty())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 = deletedContacts.top();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deletedContacts.pop();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stack&lt;Contact&gt; deletedContacts;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→ table.remove() → stack.push()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undo   → stack.pop()    → table.insert()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A T A  S T R U C T U R E  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347472"/>
            <a:ext cx="41148" cy="47548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+ Binary Search — Secondary Lookup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14800" cy="1060704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171450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51560"/>
            <a:ext cx="1714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Binary Search Here?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3075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Phone and email are not the hash key — hash table cannot help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5453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Collect all contacts into a vector → sort → binary search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O(log n) search beats O(n) linear scan at scale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0208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Demonstrates divide-and-conquer paradigm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304287"/>
            <a:ext cx="4114800" cy="841247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2267712"/>
            <a:ext cx="102870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267712"/>
            <a:ext cx="1028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Used For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5237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Display All (A–Z) — sortByName() returns sorted copy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7614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Original hash table ordering is never disturbed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246119"/>
            <a:ext cx="4114800" cy="1193145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3337560"/>
            <a:ext cx="82296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Complexity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" y="356616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57400" y="3566160"/>
            <a:ext cx="1005840" cy="201168"/>
          </a:xfrm>
          <a:prstGeom prst="rect">
            <a:avLst/>
          </a:prstGeom>
          <a:solidFill>
            <a:srgbClr val="1A3A1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57400" y="3566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378561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 search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57400" y="3785616"/>
            <a:ext cx="1005840" cy="201168"/>
          </a:xfrm>
          <a:prstGeom prst="rect">
            <a:avLst/>
          </a:prstGeom>
          <a:solidFill>
            <a:srgbClr val="1A3A1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57400" y="37856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400507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per query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57400" y="4005072"/>
            <a:ext cx="1005840" cy="201168"/>
          </a:xfrm>
          <a:prstGeom prst="rect">
            <a:avLst/>
          </a:prstGeom>
          <a:solidFill>
            <a:srgbClr val="1A3A1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57400" y="4005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960120"/>
            <a:ext cx="425196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81728" y="107899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Search by phone — O(n log n + log n)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Contact* byPhone(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vector&lt;Contact&gt;&amp; contacts,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string&amp; phone) {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1. Sort on the target field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sort(contacts.begin(), contacts.end(),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[](const Contact&amp; a, const Contact&amp; b)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a.phone &lt; b.phone;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Classic binary search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lo = 0, hi = (int)contacts.size() - 1;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(lo &lt;= hi)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mid = lo + (hi - lo) / 2;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(contacts[mid].phone == phone)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&amp;contacts[mid];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(contacts[mid].phone &lt; phone)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 = mid + 1;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hi = mid - 1;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nullptr;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M P L E M E N T A T I O 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347472"/>
            <a:ext cx="41148" cy="47548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2834640" cy="93268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8328" y="1042416"/>
            <a:ext cx="320040" cy="320040"/>
          </a:xfrm>
          <a:prstGeom prst="ellipse">
            <a:avLst/>
          </a:prstGeom>
          <a:solidFill>
            <a:srgbClr val="2E6A9E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1042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0241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Contact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3441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Table insert — O(1) avg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932688"/>
            <a:ext cx="2834640" cy="93268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0128" y="1042416"/>
            <a:ext cx="320040" cy="320040"/>
          </a:xfrm>
          <a:prstGeom prst="ellipse">
            <a:avLst/>
          </a:prstGeom>
          <a:solidFill>
            <a:srgbClr val="2E6A9E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1042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03320" y="10241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by 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64992" y="13441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Table lookup — O(1) avg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932688"/>
            <a:ext cx="2834640" cy="93268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81928" y="1042416"/>
            <a:ext cx="320040" cy="320040"/>
          </a:xfrm>
          <a:prstGeom prst="ellipse">
            <a:avLst/>
          </a:prstGeom>
          <a:solidFill>
            <a:srgbClr val="2E6A9E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81928" y="1042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10241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by Phone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36792" y="13441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+ Binary Search — O(n log 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1984248"/>
            <a:ext cx="2834640" cy="93268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" y="2093976"/>
            <a:ext cx="320040" cy="320040"/>
          </a:xfrm>
          <a:prstGeom prst="ellipse">
            <a:avLst/>
          </a:prstGeom>
          <a:solidFill>
            <a:srgbClr val="2E6A9E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" y="2093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20756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by Email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" y="23957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+ Binary Search — O(n log n)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0" y="1984248"/>
            <a:ext cx="2834640" cy="93268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10128" y="2093976"/>
            <a:ext cx="320040" cy="320040"/>
          </a:xfrm>
          <a:prstGeom prst="ellipse">
            <a:avLst/>
          </a:prstGeom>
          <a:solidFill>
            <a:srgbClr val="2E6A9E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10128" y="2093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03320" y="20756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Contact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64992" y="23957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Table in-place update — O(1)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1984248"/>
            <a:ext cx="2834640" cy="93268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81928" y="2093976"/>
            <a:ext cx="320040" cy="320040"/>
          </a:xfrm>
          <a:prstGeom prst="ellipse">
            <a:avLst/>
          </a:prstGeom>
          <a:solidFill>
            <a:srgbClr val="2E6A9E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81928" y="2093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20756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Contact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36792" y="23957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Table remove + Stack push — O(1)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3035808"/>
            <a:ext cx="2834640" cy="93268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38328" y="3145536"/>
            <a:ext cx="320040" cy="320040"/>
          </a:xfrm>
          <a:prstGeom prst="ellipse">
            <a:avLst/>
          </a:prstGeom>
          <a:solidFill>
            <a:srgbClr val="2E6A9E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8328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" y="31272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Undo Last Delete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3192" y="34472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pop + Hash Table insert — O(1)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0" y="3035808"/>
            <a:ext cx="2834640" cy="93268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310128" y="3145536"/>
            <a:ext cx="320040" cy="320040"/>
          </a:xfrm>
          <a:prstGeom prst="ellipse">
            <a:avLst/>
          </a:prstGeom>
          <a:solidFill>
            <a:srgbClr val="2E6A9E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10128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703320" y="31272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All A–Z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64992" y="34472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std::sort on vector — O(n log n)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72200" y="3035808"/>
            <a:ext cx="2834640" cy="93268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81928" y="3145536"/>
            <a:ext cx="320040" cy="320040"/>
          </a:xfrm>
          <a:prstGeom prst="ellipse">
            <a:avLst/>
          </a:prstGeom>
          <a:solidFill>
            <a:srgbClr val="2E6A9E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81928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75120" y="31272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by Group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36792" y="34472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scan — O(n)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28600" y="4096512"/>
            <a:ext cx="8686800" cy="685800"/>
          </a:xfrm>
          <a:prstGeom prst="rect">
            <a:avLst/>
          </a:prstGeom>
          <a:solidFill>
            <a:srgbClr val="0D1F1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47472" y="4206240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7472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0"/>
                </a:solidFill>
              </a:rPr>
              <a:t>★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5800" y="416966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 Interface — Bonus Feature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" y="44074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Qt6 desktop application: sidebar navigation, contact tables, add/update forms, live group filter. Built on top of the same backend headers — no core logic was modified.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E M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347472"/>
            <a:ext cx="41148" cy="47548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Screenshots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3268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 VERSION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63440" y="93268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QT6 GUI VERSION  ★ BONUS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0936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2880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ECD33F2-DF70-90AB-3245-6658CA0BA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1133854"/>
            <a:ext cx="4325112" cy="16581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1BE3ADA-3CEB-523F-7BB2-B8503DC5A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1" y="2834640"/>
            <a:ext cx="2346960" cy="19613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86D3A21-05AE-9E36-7FB4-ADE0E9D81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0759" y="2834640"/>
            <a:ext cx="2346961" cy="201685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BC5563B-E1C5-40E8-EA5E-B278597F47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1168145"/>
            <a:ext cx="4325112" cy="37842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N A L Y S I 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347472"/>
            <a:ext cx="41148" cy="47548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Complexity Summary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20040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34640" y="1005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Structure Used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Complexity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280160"/>
            <a:ext cx="8686800" cy="301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3167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contact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34640" y="13167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Table insert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0" y="1325880"/>
            <a:ext cx="105156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0" y="13258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average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581912"/>
            <a:ext cx="8686800" cy="30175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1618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by name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34640" y="1618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Table lookup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0" y="1627632"/>
            <a:ext cx="105156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6276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average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8600" y="1883664"/>
            <a:ext cx="8686800" cy="301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contact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834640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Table in-place update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1929384"/>
            <a:ext cx="105156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19293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average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28600" y="2185416"/>
            <a:ext cx="8686800" cy="30175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2221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contact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34640" y="22219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Table remove + Stack push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0" y="2231136"/>
            <a:ext cx="5029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0" y="2231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2487168"/>
            <a:ext cx="8686800" cy="301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2523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Undo last delete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834640" y="2523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pop + Hash Table insert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58000" y="2532888"/>
            <a:ext cx="5029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25328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2788920"/>
            <a:ext cx="8686800" cy="30175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28254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by phone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834640" y="28254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std::sort + Binary Search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58000" y="2834640"/>
            <a:ext cx="91440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58000" y="2834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28600" y="3090672"/>
            <a:ext cx="8686800" cy="301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31272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by email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834640" y="3127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std::sort + Binary Search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858000" y="3136392"/>
            <a:ext cx="91440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0" y="3136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8600" y="3392424"/>
            <a:ext cx="8686800" cy="30175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3429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all (A–Z)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834640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std::sort on vector copy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58000" y="3438144"/>
            <a:ext cx="91440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58000" y="3438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28600" y="3694176"/>
            <a:ext cx="8686800" cy="301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3730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by group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834640" y="3730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scan of all contacts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58000" y="3739896"/>
            <a:ext cx="5029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858000" y="37398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28600" y="4041648"/>
            <a:ext cx="86868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11480" y="41330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primary operations (add, search by name, update, delete, undo) run in </a:t>
            </a: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average time</a:t>
            </a: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Secondary-field search is O(n log n) — still far more efficient than a naive O(n) linear scan for large contact lists.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O M P I L A T I O N  &amp;  U S A G 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347472"/>
            <a:ext cx="41148" cy="47548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Compile and Run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14800" cy="13258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33272"/>
            <a:ext cx="260604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332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 Version — requires g++ C++17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1280160"/>
            <a:ext cx="3886200" cy="896112"/>
          </a:xfrm>
          <a:prstGeom prst="rect">
            <a:avLst/>
          </a:prstGeom>
          <a:solidFill>
            <a:srgbClr val="0A1520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Compile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-std=c++17 -o contacts main_console.cpp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(Linux / macOS)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./contacts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(Windows)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contacts.exe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8600" y="2377440"/>
            <a:ext cx="4114800" cy="193852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2450592"/>
            <a:ext cx="164592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2450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File Structure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7472" y="2670048"/>
            <a:ext cx="3886200" cy="1581912"/>
          </a:xfrm>
          <a:prstGeom prst="rect">
            <a:avLst/>
          </a:prstGeom>
          <a:solidFill>
            <a:srgbClr val="0A1520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715768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Contact.h          ← data structure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HashTable.h        ← primary storage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UndoStack.h        ← undo feature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BinarySearch.h     ← secondary search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ContactManager.h   ← facade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main_console.cpp   ← console entry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MainWindow.h/cpp   ← Qt6 GUI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main.cpp           ← Qt entry point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ContactManager.pro ← Qt build file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4251960" cy="153619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90872" y="1033272"/>
            <a:ext cx="171450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90872" y="1033272"/>
            <a:ext cx="1714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 Version (Qt6 Bonus)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09160" y="12984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Qt Creator: open ContactManager.pro → Configure → ▶ Run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157276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Linux CLI: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810512"/>
            <a:ext cx="397764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28032" y="18562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qtbase5-dev qt5-qmake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qmake ContactManager.pro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./ContactManager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0" y="2542032"/>
            <a:ext cx="4251960" cy="12192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90872" y="2615184"/>
            <a:ext cx="96012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90872" y="26151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09160" y="287121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C++17 standard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311810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No external libs for console version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336499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Qt5 or Qt6 for GUI version only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4A9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R A N S P A R E N C Y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347472"/>
            <a:ext cx="41148" cy="47548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Usage Declaration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used: </a:t>
            </a: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(claude.ai)</a:t>
            </a:r>
            <a:r>
              <a:rPr lang="en-US" sz="10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 Anthropic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4251960" cy="120700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389888"/>
            <a:ext cx="150876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3898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AI WAS USED FOR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93192" y="1645920"/>
            <a:ext cx="3913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 layer (MainWindow.h / .cpp / Qt main.cpp), code structure advice (one-header-per-struct), debugging a missing method declaration linker error, Qt kit setup on Windows, README writing, and explaining concepts (djb2, separate chaining, binary search trade-offs).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251960" cy="120700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82312" y="1389888"/>
            <a:ext cx="2125980" cy="201168"/>
          </a:xfrm>
          <a:prstGeom prst="rect">
            <a:avLst/>
          </a:prstGeom>
          <a:solidFill>
            <a:srgbClr val="2E6A9E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1389888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WAS MODIFIED OR REJECTED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28032" y="1645920"/>
            <a:ext cx="3913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first GUI suggestion used HTML/JavaScript — rejected in favour of a proper Qt C++ desktop app. Several AI-suggested variable names and layout choices were adjusted to match existing backend naming conventions.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" y="2633472"/>
            <a:ext cx="4251960" cy="120700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724912"/>
            <a:ext cx="1920240" cy="201168"/>
          </a:xfrm>
          <a:prstGeom prst="rect">
            <a:avLst/>
          </a:prstGeom>
          <a:solidFill>
            <a:srgbClr val="5A3A1A"/>
          </a:solidFill>
          <a:ln w="12700">
            <a:solidFill>
              <a:srgbClr val="5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2724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WHERE AI WAS WRONG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3192" y="2980944"/>
            <a:ext cx="3913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declared several private methods in MainWindow.h but omitted buildPageSearch(), buildPageUpdate(), and buildPageUndo() — causing linker errors. The group identified and corrected the missing declarations.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2633472"/>
            <a:ext cx="4251960" cy="120700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82312" y="2724912"/>
            <a:ext cx="2125980" cy="201168"/>
          </a:xfrm>
          <a:prstGeom prst="rect">
            <a:avLst/>
          </a:prstGeom>
          <a:solidFill>
            <a:srgbClr val="5A3A1A"/>
          </a:solidFill>
          <a:ln w="12700">
            <a:solidFill>
              <a:srgbClr val="5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82312" y="2724912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GROUP DID THEMSELVES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28032" y="2980944"/>
            <a:ext cx="3913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five backend headers (HashTable, UndoStack, BinarySearch, Contact, ContactManager) and the full console version were written independently. Every design decision — hash table as primary structure, stack for undo, binary search for secondary fields — was made and justified by the group.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3977640"/>
            <a:ext cx="8686800" cy="713232"/>
          </a:xfrm>
          <a:prstGeom prst="rect">
            <a:avLst/>
          </a:prstGeom>
          <a:solidFill>
            <a:srgbClr val="0A1520"/>
          </a:solidFill>
          <a:ln w="12700">
            <a:solidFill>
              <a:srgbClr val="2E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40873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AI did not reduce our understanding. Every AI-generated component was reviewed, tested, and fully understood before submission.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91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are ready for the demo and Q&amp;A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0" y="2834640"/>
            <a:ext cx="1463040" cy="0"/>
          </a:xfrm>
          <a:prstGeom prst="line">
            <a:avLst/>
          </a:prstGeom>
          <a:noFill/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0934" y="2999232"/>
            <a:ext cx="987552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0934" y="299923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Table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85646" y="2999232"/>
            <a:ext cx="1486814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5646" y="2999232"/>
            <a:ext cx="1486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 Chaining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09621" y="2999232"/>
            <a:ext cx="1558138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09621" y="2999232"/>
            <a:ext cx="1558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djb2 Hash Function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04918" y="2999232"/>
            <a:ext cx="1486814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04918" y="2999232"/>
            <a:ext cx="1486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— LIFO Undo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28893" y="2999232"/>
            <a:ext cx="1201522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28893" y="2999232"/>
            <a:ext cx="1201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 Search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567574" y="2999232"/>
            <a:ext cx="1415491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67574" y="2999232"/>
            <a:ext cx="14154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 &amp; Conquer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45282" y="3337560"/>
            <a:ext cx="1201522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45282" y="3337560"/>
            <a:ext cx="1201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Qt6 GUI Bonus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83964" y="3337560"/>
            <a:ext cx="1914754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83964" y="3337560"/>
            <a:ext cx="1914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Primary Operations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CSE333 – Data Structures and Algorithms  ·  Faculty of Engineering – Specialized Programs  ·  Spring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2104</Words>
  <Application>Microsoft Office PowerPoint</Application>
  <PresentationFormat>On-screen Show (16:9)</PresentationFormat>
  <Paragraphs>332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 Management System – CSE333</dc:title>
  <dc:subject>PptxGenJS Presentation</dc:subject>
  <dc:creator>PptxGenJS</dc:creator>
  <cp:lastModifiedBy>giovanni boulis</cp:lastModifiedBy>
  <cp:revision>2</cp:revision>
  <dcterms:created xsi:type="dcterms:W3CDTF">2026-05-11T21:48:55Z</dcterms:created>
  <dcterms:modified xsi:type="dcterms:W3CDTF">2026-05-11T22:21:30Z</dcterms:modified>
</cp:coreProperties>
</file>